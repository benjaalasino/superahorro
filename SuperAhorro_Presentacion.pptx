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🛒  SuperAhorro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E6C9"/>
                </a:solidFill>
              </a:rPr>
              <a:t>Aplicación Android de Control de Gastos en Supermercados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5D6A7"/>
                </a:solidFill>
              </a:rPr>
              <a:t>Kotlin  •  Jetpack Compose  •  MVVM  •  Navigation  •  SharedPreferences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0CBC4"/>
                </a:solidFill>
              </a:rPr>
              <a:t>com.undef.superahorroCalvoAlasino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035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API Level 36 (Android 15)  •  Android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Tecnologías y Lenguajes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Stack completo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8016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🔤  Kotlin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664208"/>
            <a:ext cx="352958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Lenguaje oficial de Android
Null-safety, corrutinas integradas
Menos código que Java
Interoperable con Java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28016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🔧  Gradle (KTS)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664208"/>
            <a:ext cx="352958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build.gradle.kts — sintaxis Kotlin
libs.versions.toml — catálogo de versiones
AGP 9.1.1 — Android Gradle Plugin
Compila el APK final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188720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7" y="128016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🎨  Jetpack 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1664208"/>
            <a:ext cx="352958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UI declarativa 100%
@Composable functions
Material 3 (Material You)
Sin XML layouts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749039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3840479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🏗️  Android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4224527"/>
            <a:ext cx="352958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IDE oficial de Google
API 36 (Android 15)
Min SDK 24 (Android 7.0)
Emulador y debugging integrado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749039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3840479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🗄️  SharedPreferences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4224527"/>
            <a:ext cx="352958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Persistencia local de datos
JSON serializado con org.json
Datos aislados por usuario
No requiere servidor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3749039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7" y="3840479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🧭  Navigation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4224527"/>
            <a:ext cx="352958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navigation-compose:2.7.7
NavHost + composable()
Argumentos tipados (IntType)
Back-stack automático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Estructura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Organización de carpetas y paquete com.undef.*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5486400" cy="5532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188720"/>
            <a:ext cx="5266944" cy="5349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urier New"/>
              </a:rPr>
              <a:t>SuperAhorro/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├── app/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├── build.gradle.kts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│   └── src/main/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├── AndroidManifest.xml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│       ├── java/com/undef/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│       │   superahorroCalvoAlasino/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├── MainActivity.kt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│       │   ├── model/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│   └── Models.kt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│       │   ├── viewmodel/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│   ├── UsuarioViewModel.kt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│   └── CompraViewModel.kt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│       │   ├── navigation/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│   ├── NavRoutes.kt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│   └── AppNavGraph.kt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│       │   └── ui/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    ├── screens/ (12 pantallas)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    ├── components/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│       │       └── theme/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38BA8"/>
                </a:solidFill>
                <a:latin typeface="Courier New"/>
              </a:rPr>
              <a:t>│       └── res/values/strings.xml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└── gradle/libs.versions.toml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143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📦  Nombre del Paquete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572768"/>
            <a:ext cx="59893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1664208"/>
            <a:ext cx="5769864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757575"/>
                </a:solidFill>
                <a:latin typeface="Courier New"/>
              </a:rPr>
              <a:t>// app/build.gradle.kts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Courier New"/>
              </a:rPr>
              <a:t>namespace = "com.undef.superahorroCalvoAlasino"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Courier New"/>
              </a:rPr>
              <a:t>applicationId = "com.undef.superahorroCalvoAlasino"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4505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✅  Cumple: com.undef.nombreappalumno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926080"/>
            <a:ext cx="598932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3017520"/>
            <a:ext cx="5769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🧩  model/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3401568"/>
            <a:ext cx="5769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Data classes: Compra, Producto, Usuario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813048"/>
            <a:ext cx="598932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3904487"/>
            <a:ext cx="5769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⚙️  viewmodel/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4288536"/>
            <a:ext cx="5769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UsuarioViewModel, CompraViewModel
→ extienden ViewModel()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4700016"/>
            <a:ext cx="598932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4791456"/>
            <a:ext cx="5769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🎨  ui/screens/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5175504"/>
            <a:ext cx="5769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12 pantallas @Composable
→ Solo UI, sin lógica de negocio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5586984"/>
            <a:ext cx="598932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5678424"/>
            <a:ext cx="5769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🧭  navigation/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6062472"/>
            <a:ext cx="5769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NavRoutes (sealed class)
AppNavGraph (NavHost)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Jetpack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UI declarativa — MainActivity.kt como punto de entrada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852160" cy="4663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5632704" cy="4480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// MainActivity.kt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class MainActivity : ComponentActivity()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override fun onCreate(savedInstanceState: Bundle?)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super.onCreate(savedInstanceState)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    setContent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  SuperAhorroTheme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Surface(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modifier = Modifier.fillMaxSize(),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color = MaterialTheme.colorScheme.background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          AppNavGraph(applicationContext)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¿Por qué Jetpack Compose?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72768"/>
            <a:ext cx="5669280" cy="11155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367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setContent {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Reemplaza setContentView(R.layout.*).
No hay XML de layout — todo es código Kotlin.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798064"/>
            <a:ext cx="5669280" cy="11155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862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@Composable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954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Cada pantalla es una función anotada
con @Composable que describe la 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023360"/>
            <a:ext cx="5669280" cy="11155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873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SuperAhorroTheme {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Aplica el tema Material 3 globalmente:
colores, tipografía y formas definidos en
ui/theme/Theme.kt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5248656"/>
            <a:ext cx="5669280" cy="11155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3126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AppNavGraph()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660136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Punto de entrada al grafo de navegación.
Recibe el contexto para inicializar
los ViewModels con SharedPreferences.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Arquitectura MVVM — Capa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model/Models.kt  ·  Data classes puras de Kotlin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48640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5266944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// model/Models.kt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data class Compra(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id: Int,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supermercado: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fecha: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hora: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total: Double,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productos: List&lt;Producto&gt; = emptyList()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data class Producto(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id: Int,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codigo: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nombre: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descripcion: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precio: Double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data class Usuario(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nombre: String = "",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email: String = "",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password: String = 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143000"/>
            <a:ext cx="5989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¿Qué son data classes en Kotlin?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627632"/>
            <a:ext cx="5989320" cy="8961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715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①  equals(), hashCode(), toString() y copy() son generados automáticamente por el compilador.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606040"/>
            <a:ext cx="5989320" cy="8961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670048"/>
            <a:ext cx="5715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②  val (immutability) → los datos no se modifican accidentalmente.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584448"/>
            <a:ext cx="5989320" cy="8961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48456"/>
            <a:ext cx="5715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③  Compra contiene una lista de Producto anidada — relación 1:N.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562856"/>
            <a:ext cx="5989320" cy="8961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626864"/>
            <a:ext cx="5715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④  La capa Model NO conoce la UI ni la lógica de negocio:
puro almacenamiento de datos.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5541264"/>
            <a:ext cx="5989320" cy="8961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605272"/>
            <a:ext cx="5715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⑤  copy() permite actualizar estado de forma inmutable:
compra.copy(productos = nuevaLista)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MVVM — UsuarioViewModel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Gestión del estado del usuario con mutableStateOf + SharedPreferences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98932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5769864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// viewmodel/UsuarioViewModel.kt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class UsuarioViewModel(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private var context: Context? = null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) : ViewModel()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// Estado reactivo: la UI se recompone cuando cambia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  private val _usuario = mutableStateOf(Usuario())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val usuario = _usuario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fun registrarUsuario(nombre: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           email: String, password: String)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_usuario.value = Usuario(nombre, email, password)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guardarUsuarioEnPreferencias()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fun validarCredenciales(email: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              password: String): Boolean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u = _usuario.value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return u.email == email &amp;&amp; u.password == password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fun cerrarSesion()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  _usuario.value = Usuario()  // resetea el estado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143000"/>
            <a:ext cx="553212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1615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ViewModel()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81912"/>
            <a:ext cx="5257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Sobrevive rotaciones de pantalla.
El sistema lo destruye solo cuando el
usuario abandona la pantalla definitivamente.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560320"/>
            <a:ext cx="553212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334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mutableStateOf()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99232"/>
            <a:ext cx="5257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Jetpack Compose observa este estado.
Cada vez que _usuario.value cambia,
las Composables que lo leen se recomponen.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977639"/>
            <a:ext cx="553212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50791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SharedPreferences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16552"/>
            <a:ext cx="5257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Almacenamiento clave-valor local.
Nombre del archivo: "super_ahorro_prefs"
Claves: nombre, email, password.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5394960"/>
            <a:ext cx="553212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46811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cerrarSesion()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833872"/>
            <a:ext cx="5257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Resetea el estado a Usuario() vacío.
La UI reacciona automáticamente
y redirige al Login.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MVVM — CompraViewModel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Estado reactivo con mutableStateListOf + serialización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649224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6272783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// viewmodel/CompraViewModel.kt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class CompraViewModel(context: Context?) : ViewModel()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// Lista observable — Compose recompone al mutar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  private val _compras = mutableStateListOf&lt;Compra&gt;()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val compras: List&lt;Compra&gt; = _compras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private var proximoId =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fun agregarCompra(supermercado: String, fecha: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        hora: String, total: Double,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        productosAgregados: List&lt;Pair&lt;String,Double&gt;&gt;)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nuevaCompra = Compra(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id = proximoId++, supermercado = supermercado,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fecha = fecha, hora = hora, total = total,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productos = productosAgregados.mapIndexed { i, (n, p) 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Producto(i+1, "", n, "", 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  _compras.add(0, nuevaCompra)  // inserta al inicio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guardarCompras()              // persiste en JSON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fun calcularTotalGastado(): Double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  _compras.sumOf { it.total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1430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Persistencia JSON en SharedPreferences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572768"/>
            <a:ext cx="502920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1664208"/>
            <a:ext cx="4809744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757575"/>
                </a:solidFill>
                <a:latin typeface="Courier New"/>
              </a:rPr>
              <a:t>// Clave por usuario: "compras_juan@gmail.com"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urier New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urier New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Courier New"/>
              </a:rPr>
              <a:t>    "id":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Courier New"/>
              </a:rPr>
              <a:t>    "supermercado": "Carrefour",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Courier New"/>
              </a:rPr>
              <a:t>    "fecha": "08/05/2026",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Courier New"/>
              </a:rPr>
              <a:t>    "total": 15420.50,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urier New"/>
              </a:rPr>
              <a:t>    "productos":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A6E3A1"/>
                </a:solidFill>
                <a:latin typeface="Courier New"/>
              </a:rPr>
              <a:t>      {"nombre": "Leche", "precio": 980}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urier New"/>
              </a:rPr>
              <a:t>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urier New"/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4005072"/>
            <a:ext cx="5029200" cy="2606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4096511"/>
            <a:ext cx="4809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mutableStateListOf vs mutableStateOf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4480560"/>
            <a:ext cx="48097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mutableStateListOf&lt;T&gt;() → Compose detecta
inserciones/remociones individuales.
Más eficiente que reemplazar toda la lista.
guardarCompras() serializa la lista completa
a JSONArray y la guarda en SharedPreferences.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Navegación — NavRoutes (Sealed Class)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navigation/NavRoutes.kt · 12 rutas tipadas con Kotlin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98932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5769864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757575"/>
                </a:solidFill>
                <a:latin typeface="Courier New"/>
              </a:rPr>
              <a:t>// navigation/NavRoutes.kt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BA6F7"/>
                </a:solidFill>
                <a:latin typeface="Courier New"/>
              </a:rPr>
              <a:t>sealed class NavRoutes(val route: String)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Splash      : NavRoutes("splash")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Login       : NavRoutes("login")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Registro    : NavRoutes("registro")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Home        : NavRoutes("home")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NuevaCompra : NavRoutes("nueva_compra")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Historial   : NavRoutes("historial")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Estadisticas: NavRoutes("estadisticas")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Perfil      : NavRoutes("perfil")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EditarPerfil: NavRoutes("editar_perfil")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object Settings    : NavRoutes("settings")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757575"/>
                </a:solidFill>
                <a:latin typeface="Courier New"/>
              </a:rPr>
              <a:t>  // Rutas con argumentos tipados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BA6F7"/>
                </a:solidFill>
                <a:latin typeface="Courier New"/>
              </a:rPr>
              <a:t>  object NuevoProducto : NavRoutes(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BA6F7"/>
                </a:solidFill>
                <a:latin typeface="Courier New"/>
              </a:rPr>
              <a:t>      "nuevo_producto/{compraId}")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A6E3A1"/>
                </a:solidFill>
                <a:latin typeface="Courier New"/>
              </a:rPr>
              <a:t>    fun withId(id: Int) = "nuevo_producto/$id"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BA6F7"/>
                </a:solidFill>
                <a:latin typeface="Courier New"/>
              </a:rPr>
              <a:t>  object DetalleCompra : NavRoutes(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BA6F7"/>
                </a:solidFill>
                <a:latin typeface="Courier New"/>
              </a:rPr>
              <a:t>      "detalle_compra/{compraId}")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A6E3A1"/>
                </a:solidFill>
                <a:latin typeface="Courier New"/>
              </a:rPr>
              <a:t>    fun withId(id: Int) = "detalle_compra/$id"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143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¿Por qué sealed class?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72768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Una sealed class en Kotlin garantiza que SOLO
existen los subtipos declarados en el archivo.
El compilador verifica exhaustividad (when expressions).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468880"/>
            <a:ext cx="54406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Splash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542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Verifica si hay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10896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3A047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200400"/>
            <a:ext cx="54406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Login / Registro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73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Autenticación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84048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3A047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31920"/>
            <a:ext cx="54406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</a:rPr>
              <a:t>Dashboard principal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57200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3A047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663440"/>
            <a:ext cx="54406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09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Historial / Estadísticas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736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Vistas de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30352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3A047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394960"/>
            <a:ext cx="54406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440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Detalle Compra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468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withId(compraId)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603504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3A047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6126480"/>
            <a:ext cx="54406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6172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Nuevo Producto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199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Argumento tipado 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Navegación — AppNavGraph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navigation/AppNavGraph.kt · NavHost con argumentos y back-stack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717804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6958583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// navigation/AppNavGraph.kt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@Composable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fun AppNavGraph(context: Context? = null)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    val navController = rememberNavController()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compraViewModel   = remember { CompraViewModel(context)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val usuarioViewModel  = remember { UsuarioViewModel(context)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    NavHost(navController, startDestination = NavRoutes.Splash.route)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      // Rutas simples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composable(NavRoutes.Splash.route)  { SplashScreen(navController)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composable(NavRoutes.Login.route)   { LoginScreen(navController,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usuarioViewModel, compraViewModel)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composable(NavRoutes.Home.route)    { HomeScreen(navController,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compraViewModel)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      // Ruta con argumento tipado (Int)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composable(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route = NavRoutes.DetalleCompra.route,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arguments = listOf(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            navArgument("compraId") { type = NavType.IntType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) { backStackEntry 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val id = backStackEntry.arguments?.getInt("compraId") ?: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            DetalleCompraScreen(navController, id, compraViewModel)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143000"/>
            <a:ext cx="434340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21615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rememberNavController()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00200"/>
            <a:ext cx="4023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Crea y recuerda el controlador de
navegación entre composiciones.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560320"/>
            <a:ext cx="434340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6334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remember { ViewModel()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017520"/>
            <a:ext cx="4023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Los ViewModels se crean una sola vez
y son compartidos entre pantallas.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977639"/>
            <a:ext cx="434340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050791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navArgument + IntType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34840"/>
            <a:ext cx="4023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Tipo seguro: no puede pasarse un String
donde se espera un Int como compraId.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5394960"/>
            <a:ext cx="434340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54681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popUpTo + inclusive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852160"/>
            <a:ext cx="4023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Evita volver al Login después de
autentica: limpia el back-stack.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Pantalla Login — LoginScreen.kt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ui/screens/LoginScreen.kt · Estado local + validación + navegación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649224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6272783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BA6F7"/>
                </a:solidFill>
                <a:latin typeface="Courier New"/>
              </a:rPr>
              <a:t>@Composable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fun LoginScreen(navController: NavController,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     usuarioVM: UsuarioViewModel,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     compraVM: CompraViewModel)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757575"/>
                </a:solidFill>
                <a:latin typeface="Courier New"/>
              </a:rPr>
              <a:t>  // Estado local de la pantalla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89DCEB"/>
                </a:solidFill>
                <a:latin typeface="Courier New"/>
              </a:rPr>
              <a:t>  var email    by remember { mutableStateOf("")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89DCEB"/>
                </a:solidFill>
                <a:latin typeface="Courier New"/>
              </a:rPr>
              <a:t>  var password by remember { mutableStateOf("")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89DCEB"/>
                </a:solidFill>
                <a:latin typeface="Courier New"/>
              </a:rPr>
              <a:t>  var error    by remember { mutableStateOf("")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OutlinedTextField(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value = email,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onValueChange = { email = it; error = ""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label = { Text("Email")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keyboardOptions = KeyboardOptions(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keyboardType = KeyboardType.Email)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OutlinedTextField(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value = password,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onValueChange = { password = it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visualTransformation = PasswordVisualTransformation()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Button(onClick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if (usuarioVM.validarCredenciales(email, password))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compraVM.cargarComprasDelUsuario(email)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navController.navigate(NavRoutes.Home.route)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popUpTo(NavRoutes.Login.route) { inclusive = true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} else { error = "Credenciales incorrectas"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}) { Text("Iniciar sesión")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143000"/>
            <a:ext cx="5074920" cy="5486400"/>
          </a:xfrm>
          <a:prstGeom prst="rect">
            <a:avLst/>
          </a:prstGeom>
          <a:solidFill>
            <a:srgbClr val="121212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234440"/>
            <a:ext cx="48920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6002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</a:rP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212848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</a:rPr>
              <a:t>Super Ahorro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2697480"/>
            <a:ext cx="4709160" cy="34747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27432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Email o contraseña incorrectos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3108960"/>
            <a:ext cx="4709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31546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</a:rPr>
              <a:t>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547872"/>
            <a:ext cx="4709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359359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</a:rPr>
              <a:t>Contraseña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4041648"/>
            <a:ext cx="47091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09651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Iniciar sesión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535424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E7D32"/>
                </a:solidFill>
              </a:rPr>
              <a:t>¿No tenés cuenta? Registrate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Pantalla Home — HomeScreen.kt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ui/screens/HomeScreen.kt · Scaffold + LazyColumn +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658368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6364224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BA6F7"/>
                </a:solidFill>
                <a:latin typeface="Courier New"/>
              </a:rPr>
              <a:t>@Composable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fun HomeScreen(navController: NavController,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    compraViewModel: CompraViewModel)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89DCEB"/>
                </a:solidFill>
                <a:latin typeface="Courier New"/>
              </a:rPr>
              <a:t>  val compras      = compraViewModel.compras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89DCEB"/>
                </a:solidFill>
                <a:latin typeface="Courier New"/>
              </a:rPr>
              <a:t>  val totalGastado = compraViewModel.calcularTotalGastado()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BA6F7"/>
                </a:solidFill>
                <a:latin typeface="Courier New"/>
              </a:rPr>
              <a:t>  Scaffold(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topBar = { TopAppBar(title = { Text("Super Ahorro")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colors = TopAppBarDefaults.topAppBarColors(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  containerColor = Color(0xFF2E7D32),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titleContentColor = Color.White))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bottomBar = { BottomNavBar(navController)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floatingActionButton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FloatingActionButton(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onClick = { navController.navigate(NavRoutes.NuevaCompra.route)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containerColor = Color(0xFF2E7D32)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) { Icon(Icons.Default.Add, null)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) { padding 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BA6F7"/>
                </a:solidFill>
                <a:latin typeface="Courier New"/>
              </a:rPr>
              <a:t>    LazyColumn(...)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item { /* Tarjeta Total Gastado */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item { /* Insight Cards: Top Super / Máx Gasto */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items(compras) { compra 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CompraCard(compra, onClick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navController.navigate(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    NavRoutes.DetalleCompra.withId(compra.id))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143000"/>
            <a:ext cx="4937760" cy="5486400"/>
          </a:xfrm>
          <a:prstGeom prst="rect">
            <a:avLst/>
          </a:prstGeom>
          <a:solidFill>
            <a:srgbClr val="121212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234440"/>
            <a:ext cx="47548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1234440"/>
            <a:ext cx="4754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Super Ahorro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737360"/>
            <a:ext cx="4572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783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E6C9"/>
                </a:solidFill>
              </a:rPr>
              <a:t>Total gastado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299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$ 45.820,50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4231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E6C9"/>
                </a:solidFill>
              </a:rPr>
              <a:t>Compras: 3     Promedio: 15.273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770632"/>
            <a:ext cx="219456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807208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🏪 Top Super
Carrefour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1472" y="2770632"/>
            <a:ext cx="219456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2912" y="2807208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📉 Máx. Gasto
$18.500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520440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3630168"/>
            <a:ext cx="41148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3611880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575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Carrefour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867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</a:rPr>
              <a:t>08/05/2026  14:30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</a:rPr>
              <a:t>$ 18.500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4325112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4434840"/>
            <a:ext cx="41148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8624" y="441655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3799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Jumbo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46725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</a:rPr>
              <a:t>05/05/2026  10:15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4622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</a:rPr>
              <a:t>$ 15.200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89920" y="521208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8208" y="5230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6172200"/>
            <a:ext cx="4754880" cy="3657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61996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1996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61996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61996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Estadísticas — Gráfico Circular Propio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ui/screens/EstadisticasScreen.kt · Custom Canvas @Composable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640080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6181344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@Composable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fun PieChart(data: List&lt;Pair&lt;String, Double&gt;&gt;,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totalGastado: Double, modifier: Modifier)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9DCEB"/>
                </a:solidFill>
                <a:latin typeface="Courier New"/>
              </a:rPr>
              <a:t>  val total  = data.sumOf { it.second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val colors = data.indices.map { getColorForIndex(it)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Box(modifier, contentAlignment = Alignment.Center)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BA6F7"/>
                </a:solidFill>
                <a:latin typeface="Courier New"/>
              </a:rPr>
              <a:t>    Canvas(modifier = Modifier.fillMaxSize())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val radius = size.minDimension / 2.3f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var currentAngle = -90f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data.forEachIndexed { index, (_, value) 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val sweep = (value / total * 360f).toFloat()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    drawArc(color = colors[index],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    startAngle = currentAngle,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        sweepAngle = sweep, useCenter = true, ...)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  currentAngle += sweep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    // Círculo blanco central = efecto donut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6E3A1"/>
                </a:solidFill>
                <a:latin typeface="Courier New"/>
              </a:rPr>
              <a:t>      drawCircle(Color.White, radius * 0.6f, ...)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757575"/>
                </a:solidFill>
                <a:latin typeface="Courier New"/>
              </a:rPr>
              <a:t>    // Texto total en el centro del donut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Column(horizontalAlignment = Alignment.CenterHorizontally)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  Text("Total"); Text("$ ${total}")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143000"/>
            <a:ext cx="5120640" cy="5486400"/>
          </a:xfrm>
          <a:prstGeom prst="rect">
            <a:avLst/>
          </a:prstGeom>
          <a:solidFill>
            <a:srgbClr val="121212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234440"/>
            <a:ext cx="49377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234440"/>
            <a:ext cx="49377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2801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Estadísticas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691640"/>
            <a:ext cx="475488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175564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Total Gastado: $ 45.820,50  (3 compras)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39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2E7D32"/>
                </a:solidFill>
              </a:rPr>
              <a:t>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3044952"/>
            <a:ext cx="1316736" cy="1316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429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</a:rPr>
              <a:t>$ 45.820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864608"/>
            <a:ext cx="201168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86460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Carrefour 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5166360"/>
            <a:ext cx="201168" cy="20116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516636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Jumbo  33%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5468112"/>
            <a:ext cx="201168" cy="20116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546811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Día  27%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Navegación Inferior — BottomNavBar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ui/components/BottonNavBar.kt · NavigationBar Material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690372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6684264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757575"/>
                </a:solidFill>
                <a:latin typeface="Courier New"/>
              </a:rPr>
              <a:t>// ui/components/BottonNavBar.kt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BA6F7"/>
                </a:solidFill>
                <a:latin typeface="Courier New"/>
              </a:rPr>
              <a:t>@Composable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fun BottomNavBar(navController: NavController)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val items = listOf(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Triple("Home",        Icons.Default.Home,    NavRoutes.Home.route),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Triple("Historial",   Icons.Default.History, NavRoutes.Historial.route),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Triple("Estadísticas",Icons.Default.BarChart,NavRoutes.Estadisticas.route),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Triple("Perfil",      Icons.Default.Person,  NavRoutes.Perfil.route),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BA6F7"/>
                </a:solidFill>
                <a:latin typeface="Courier New"/>
              </a:rPr>
              <a:t>  NavigationBar(tonalElevation = 8.dp)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val currentRoute by navController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757575"/>
                </a:solidFill>
                <a:latin typeface="Courier New"/>
              </a:rPr>
              <a:t>        .currentBackStackEntryAsState()  // observa ruta actual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items.forEach { (label, icon, route) 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NavigationBarItem(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selected = currentRoute?.destination?.route == route,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onClick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navController.navigate(route)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    popUpTo(NavRoutes.Home.route) { saveState = true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    launchSingleTop =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    restoreState    =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icon  = { Icon(icon, label)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label = { Text(label)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colors = NavigationBarItemDefaults.colors(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  selectedIconColor = Color(0xFF2E7D32),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E3A1"/>
                </a:solidFill>
                <a:latin typeface="Courier New"/>
              </a:rPr>
              <a:t>          indicatorColor    = Color(0xFFE8F5E9)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1430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Puntos clave del componente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572768"/>
            <a:ext cx="457200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645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currentBackStackEntryAsState()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84248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Observa la ruta activa como State.
Cada vez que la ruta cambia,
el item seleccionado se actualiza.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871215"/>
            <a:ext cx="457200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9443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launchSingleTop =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282696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Evita duplicar la pantalla en el
back-stack si ya está en la cima.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169663"/>
            <a:ext cx="457200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24281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saveState / restoreState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581144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Preserva el scroll y estado de
las pantallas al volver a ellas.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5468112"/>
            <a:ext cx="457200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554126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indicatorColor verde claro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5879592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Retroalimentación visual al
usuario: item seleccionado
con fondo #E8F5E9.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Internacionalización — strings.xml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res/values/strings.xml · Separación de textos de la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Estado actual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5486400" cy="22128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5266944" cy="20299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57575"/>
                </a:solidFill>
                <a:latin typeface="Courier New"/>
              </a:rPr>
              <a:t>&lt;!-- res/values/strings.xml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9DCEB"/>
                </a:solidFill>
                <a:latin typeface="Courier New"/>
              </a:rPr>
              <a:t>&lt;resources&gt;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Courier New"/>
              </a:rPr>
              <a:t>    &lt;string name="app_name"&gt;SuperAhorro&lt;/string&gt;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9DCEB"/>
                </a:solidFill>
                <a:latin typeface="Courier New"/>
              </a:rPr>
              <a:t>&lt;/resources&gt;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57575"/>
                </a:solidFill>
                <a:latin typeface="Courier New"/>
              </a:rPr>
              <a:t>&lt;!-- AndroidManifest.xml —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57575"/>
                </a:solidFill>
                <a:latin typeface="Courier New"/>
              </a:rPr>
              <a:t>     usa @string/app_name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Courier New"/>
              </a:rPr>
              <a:t>&lt;application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A6E3A1"/>
                </a:solidFill>
                <a:latin typeface="Courier New"/>
              </a:rPr>
              <a:t>    android:label="@string/app_name"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DD6F4"/>
                </a:solidFill>
                <a:latin typeface="Courier New"/>
              </a:rPr>
              <a:t>    android:theme="@style/Theme.SuperAhorro"&gt;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136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Cómo debería expandirse (buena práctica):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279392"/>
            <a:ext cx="548640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370831"/>
            <a:ext cx="5266944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757575"/>
                </a:solidFill>
                <a:latin typeface="Courier New"/>
              </a:rPr>
              <a:t>&lt;!-- Todos los textos de la UI en strings.xml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9DCEB"/>
                </a:solidFill>
                <a:latin typeface="Courier New"/>
              </a:rPr>
              <a:t>&lt;resources&gt;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A6E3A1"/>
                </a:solidFill>
                <a:latin typeface="Courier New"/>
              </a:rPr>
              <a:t>  &lt;string name="app_name"&gt;SuperAhorro&lt;/string&gt;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A6E3A1"/>
                </a:solidFill>
                <a:latin typeface="Courier New"/>
              </a:rPr>
              <a:t>  &lt;string name="login_email"&gt;Email&lt;/string&gt;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A6E3A1"/>
                </a:solidFill>
                <a:latin typeface="Courier New"/>
              </a:rPr>
              <a:t>  &lt;string name="login_password"&gt;Contraseña&lt;/string&gt;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A6E3A1"/>
                </a:solidFill>
                <a:latin typeface="Courier New"/>
              </a:rPr>
              <a:t>  &lt;string name="login_button"&gt;Iniciar sesión&lt;/string&gt;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A6E3A1"/>
                </a:solidFill>
                <a:latin typeface="Courier New"/>
              </a:rPr>
              <a:t>  &lt;string name="home_total"&gt;Total gastado&lt;/string&gt;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757575"/>
                </a:solidFill>
                <a:latin typeface="Courier New"/>
              </a:rPr>
              <a:t>  &lt;!-- Para inglés: res/values-en/strings.xml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9DCEB"/>
                </a:solidFill>
                <a:latin typeface="Courier New"/>
              </a:rPr>
              <a:t>&lt;/resources&gt;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757575"/>
                </a:solidFill>
                <a:latin typeface="Courier New"/>
              </a:rPr>
              <a:t>// En Compose: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DD6F4"/>
                </a:solidFill>
                <a:latin typeface="Courier New"/>
              </a:rPr>
              <a:t>Text(stringResource(R.string.login_button))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1887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¿Por qué usar strings.xml?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27632"/>
            <a:ext cx="585216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007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📂  Separación de responsabilidades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39112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La lógica de la UI no mezcla texto con código.
Cambiar un texto = cambiar un archivo XML.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889504"/>
            <a:ext cx="585216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9626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🌍  Soporte multiidioma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00984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Crear res/values-en/strings.xml para inglés,
res/values-pt/strings.xml para portugués, etc.
Android elige el correcto automáticamente.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151376"/>
            <a:ext cx="585216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245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♿  Accesibilidad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562856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Los lectores de pantalla (TalkBack) usan los
strings de contentDescription definidos en XML.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413248"/>
            <a:ext cx="585216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486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🔧  Fácil mantenimiento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824728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Un solo lugar para todos los textos.
Sin buscar strings dispersos en el código.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Versionado en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Repositorio público · Seguimiento de cambios con Git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📁  github.com / benjaalasino / superahorro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E3A1"/>
                </a:solidFill>
              </a:rPr>
              <a:t>🌿  rama: claude/android-app-presentation-i0Fu1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889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Flujo de trabajo con 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18688"/>
            <a:ext cx="1164031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6E3A1"/>
                </a:solidFill>
              </a:rPr>
              <a:t>$ git 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10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</a:rPr>
              <a:t>→  Inicializa el repositorio local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77056"/>
            <a:ext cx="11640312" cy="566928"/>
          </a:xfrm>
          <a:prstGeom prst="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5020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6E3A1"/>
                </a:solidFill>
              </a:rPr>
              <a:t>$ git add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6849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</a:rPr>
              <a:t>→  Agrega todos los archivos al staging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35424"/>
            <a:ext cx="1164031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0857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6E3A1"/>
                </a:solidFill>
              </a:rPr>
              <a:t>$ git commit -m "feat: add login screen"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6268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</a:rPr>
              <a:t>→  Crea un commit con descripción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93792"/>
            <a:ext cx="11640312" cy="566928"/>
          </a:xfrm>
          <a:prstGeom prst="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6694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6E3A1"/>
                </a:solidFill>
              </a:rPr>
              <a:t>$ git push -u origin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28523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</a:rPr>
              <a:t>→  Sube el código a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852160"/>
            <a:ext cx="1164031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2531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6E3A1"/>
                </a:solidFill>
              </a:rPr>
              <a:t>$ git branch feature/stats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943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</a:rPr>
              <a:t>→  Crea una rama para nueva funcionalidad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Requisitos No Funcionales —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Todos los requisitos del proyecto verificados en el código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76072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26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Proyecto creado desde cero en Android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Estructura generada por Android Studio con AGP 9.1.1 y API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760720" cy="1280160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26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80160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Versionado en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64208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github.com/benjaalasino/superahorro — rama dedicada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578608"/>
            <a:ext cx="576072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70048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UI usable, clara y visualmente consistente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54096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Material 3, paleta verde #2E7D32, Cards, Scaffold en todas las pantallas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78608"/>
            <a:ext cx="5760720" cy="1280160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70048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Nombre de paquete: com.undef.nombreappalumno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054096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namespace = "com.undef.superahorroCalvoAlasino"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968496"/>
            <a:ext cx="576072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4041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59935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Jetpack Compose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43983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100% @Composable — sin XML layouts, Material 3 completo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68496"/>
            <a:ext cx="5760720" cy="1280160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041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059935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Navegación entre pantallas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443983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NavHost + 12 rutas (NavRoutes sealed class) + argumentos tipados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358384"/>
            <a:ext cx="576072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49824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Corrutinas en operaciones asincrónicas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33872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mutableStateOf / mutableStateListOf (estado reactivo de Compose)
+ ViewModel (lifecycle-aware, no bloquea el hilo principal)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58384"/>
            <a:ext cx="5760720" cy="1280160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449824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Internacionalización con strings.xml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833872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res/values/strings.xml con app_name — estructura para expandir a multi-idioma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6748272"/>
            <a:ext cx="576072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" y="68214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839712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Arquitectura MVVM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7223760"/>
            <a:ext cx="51663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model/ → data classes   |   viewmodel/ → ViewModel()   |   ui/ → @Composable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6446520"/>
            <a:ext cx="1173175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45566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 Arquitectura MVVM  —  model/ → data classes   |   viewmodel/ → ViewModel()   |   ui/ → @Composable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SuperAhorro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E6C9"/>
                </a:solidFill>
              </a:rPr>
              <a:t>Kotlin  ·  Jetpack Compose  ·  MVVM  ·  Navigation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9718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</a:rPr>
              <a:t>▸  9 requisitos no funcionales cumplidos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37413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</a:rPr>
              <a:t>▸  12 rutas de navegación con sealed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7764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</a:rPr>
              <a:t>▸  2 ViewModels con estado reactivo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788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</a:rPr>
              <a:t>▸  Persistencia JSON por usuario con SharedPreferences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8114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</a:rPr>
              <a:t>▸  Gráfico circular implementado con Canvas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235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0CBC4"/>
                </a:solidFill>
              </a:rPr>
              <a:t>com.undef.superahorroCalvoAlasino  ·  API 36 (Android 15)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